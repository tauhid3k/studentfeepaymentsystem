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69" r:id="rId4"/>
    <p:sldId id="270" r:id="rId5"/>
    <p:sldId id="272" r:id="rId6"/>
    <p:sldId id="271" r:id="rId7"/>
    <p:sldId id="267" r:id="rId8"/>
    <p:sldId id="258" r:id="rId9"/>
    <p:sldId id="259" r:id="rId10"/>
    <p:sldId id="260" r:id="rId11"/>
    <p:sldId id="268" r:id="rId12"/>
    <p:sldId id="263" r:id="rId13"/>
    <p:sldId id="264" r:id="rId14"/>
    <p:sldId id="2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00" d="100"/>
          <a:sy n="100" d="100"/>
        </p:scale>
        <p:origin x="990" y="4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7BCB1-49E0-43B2-99BD-BD3C73D707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EC0B7E7-477D-4820-9CC1-AD7DA1F70C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DBE822F-3C5C-4931-8414-4227018C9901}"/>
              </a:ext>
            </a:extLst>
          </p:cNvPr>
          <p:cNvSpPr>
            <a:spLocks noGrp="1"/>
          </p:cNvSpPr>
          <p:nvPr>
            <p:ph type="dt" sz="half" idx="10"/>
          </p:nvPr>
        </p:nvSpPr>
        <p:spPr/>
        <p:txBody>
          <a:bodyPr/>
          <a:lstStyle/>
          <a:p>
            <a:fld id="{1EB44006-97A4-456B-914B-FA31651D08B6}" type="datetimeFigureOut">
              <a:rPr lang="en-US" smtClean="0"/>
              <a:t>12/9/2025</a:t>
            </a:fld>
            <a:endParaRPr lang="en-US"/>
          </a:p>
        </p:txBody>
      </p:sp>
      <p:sp>
        <p:nvSpPr>
          <p:cNvPr id="5" name="Footer Placeholder 4">
            <a:extLst>
              <a:ext uri="{FF2B5EF4-FFF2-40B4-BE49-F238E27FC236}">
                <a16:creationId xmlns:a16="http://schemas.microsoft.com/office/drawing/2014/main" id="{F9D97D68-8299-4531-9AC3-AA88386088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0D0319-92F3-4347-A353-15EE52A53A8E}"/>
              </a:ext>
            </a:extLst>
          </p:cNvPr>
          <p:cNvSpPr>
            <a:spLocks noGrp="1"/>
          </p:cNvSpPr>
          <p:nvPr>
            <p:ph type="sldNum" sz="quarter" idx="12"/>
          </p:nvPr>
        </p:nvSpPr>
        <p:spPr/>
        <p:txBody>
          <a:bodyPr/>
          <a:lstStyle/>
          <a:p>
            <a:fld id="{DEA2AFE3-3187-4BF2-AF08-AAC3D54DBBA4}" type="slidenum">
              <a:rPr lang="en-US" smtClean="0"/>
              <a:t>‹#›</a:t>
            </a:fld>
            <a:endParaRPr lang="en-US"/>
          </a:p>
        </p:txBody>
      </p:sp>
    </p:spTree>
    <p:extLst>
      <p:ext uri="{BB962C8B-B14F-4D97-AF65-F5344CB8AC3E}">
        <p14:creationId xmlns:p14="http://schemas.microsoft.com/office/powerpoint/2010/main" val="3215077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5ADD4-17D3-4893-830E-46181CC8FC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F55010-27CE-46A5-898D-17FF0B23D9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535835-6E1C-4395-801C-57E8364E2CAA}"/>
              </a:ext>
            </a:extLst>
          </p:cNvPr>
          <p:cNvSpPr>
            <a:spLocks noGrp="1"/>
          </p:cNvSpPr>
          <p:nvPr>
            <p:ph type="dt" sz="half" idx="10"/>
          </p:nvPr>
        </p:nvSpPr>
        <p:spPr/>
        <p:txBody>
          <a:bodyPr/>
          <a:lstStyle/>
          <a:p>
            <a:fld id="{1EB44006-97A4-456B-914B-FA31651D08B6}" type="datetimeFigureOut">
              <a:rPr lang="en-US" smtClean="0"/>
              <a:t>12/9/2025</a:t>
            </a:fld>
            <a:endParaRPr lang="en-US"/>
          </a:p>
        </p:txBody>
      </p:sp>
      <p:sp>
        <p:nvSpPr>
          <p:cNvPr id="5" name="Footer Placeholder 4">
            <a:extLst>
              <a:ext uri="{FF2B5EF4-FFF2-40B4-BE49-F238E27FC236}">
                <a16:creationId xmlns:a16="http://schemas.microsoft.com/office/drawing/2014/main" id="{CC9005C2-E37A-435E-BE82-0F7B756B84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35F676-3AF6-4A98-94B5-479179A0489B}"/>
              </a:ext>
            </a:extLst>
          </p:cNvPr>
          <p:cNvSpPr>
            <a:spLocks noGrp="1"/>
          </p:cNvSpPr>
          <p:nvPr>
            <p:ph type="sldNum" sz="quarter" idx="12"/>
          </p:nvPr>
        </p:nvSpPr>
        <p:spPr/>
        <p:txBody>
          <a:bodyPr/>
          <a:lstStyle/>
          <a:p>
            <a:fld id="{DEA2AFE3-3187-4BF2-AF08-AAC3D54DBBA4}" type="slidenum">
              <a:rPr lang="en-US" smtClean="0"/>
              <a:t>‹#›</a:t>
            </a:fld>
            <a:endParaRPr lang="en-US"/>
          </a:p>
        </p:txBody>
      </p:sp>
    </p:spTree>
    <p:extLst>
      <p:ext uri="{BB962C8B-B14F-4D97-AF65-F5344CB8AC3E}">
        <p14:creationId xmlns:p14="http://schemas.microsoft.com/office/powerpoint/2010/main" val="4188050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1FF50-3A5E-4F0A-B601-84BE11A622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6910AF4-1F29-40F8-96B0-61636AC581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1B600E-F4F2-448E-A074-A90E8F3D8DE6}"/>
              </a:ext>
            </a:extLst>
          </p:cNvPr>
          <p:cNvSpPr>
            <a:spLocks noGrp="1"/>
          </p:cNvSpPr>
          <p:nvPr>
            <p:ph type="dt" sz="half" idx="10"/>
          </p:nvPr>
        </p:nvSpPr>
        <p:spPr/>
        <p:txBody>
          <a:bodyPr/>
          <a:lstStyle/>
          <a:p>
            <a:fld id="{1EB44006-97A4-456B-914B-FA31651D08B6}" type="datetimeFigureOut">
              <a:rPr lang="en-US" smtClean="0"/>
              <a:t>12/9/2025</a:t>
            </a:fld>
            <a:endParaRPr lang="en-US"/>
          </a:p>
        </p:txBody>
      </p:sp>
      <p:sp>
        <p:nvSpPr>
          <p:cNvPr id="5" name="Footer Placeholder 4">
            <a:extLst>
              <a:ext uri="{FF2B5EF4-FFF2-40B4-BE49-F238E27FC236}">
                <a16:creationId xmlns:a16="http://schemas.microsoft.com/office/drawing/2014/main" id="{D0E273A3-65C0-445D-A20C-12E85CC36B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8EBF1-8A96-4F68-ADF2-0A25D0D5AE13}"/>
              </a:ext>
            </a:extLst>
          </p:cNvPr>
          <p:cNvSpPr>
            <a:spLocks noGrp="1"/>
          </p:cNvSpPr>
          <p:nvPr>
            <p:ph type="sldNum" sz="quarter" idx="12"/>
          </p:nvPr>
        </p:nvSpPr>
        <p:spPr/>
        <p:txBody>
          <a:bodyPr/>
          <a:lstStyle/>
          <a:p>
            <a:fld id="{DEA2AFE3-3187-4BF2-AF08-AAC3D54DBBA4}" type="slidenum">
              <a:rPr lang="en-US" smtClean="0"/>
              <a:t>‹#›</a:t>
            </a:fld>
            <a:endParaRPr lang="en-US"/>
          </a:p>
        </p:txBody>
      </p:sp>
    </p:spTree>
    <p:extLst>
      <p:ext uri="{BB962C8B-B14F-4D97-AF65-F5344CB8AC3E}">
        <p14:creationId xmlns:p14="http://schemas.microsoft.com/office/powerpoint/2010/main" val="1351723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169BC-F38B-41E7-BEC1-440D37AA5E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C980D3-B56C-4CAA-9CA0-6175A51E4F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AB9A83-B834-493D-9CB2-193FBF91FA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727DF95-BBEC-4FF3-9DAC-62186FC2F02E}"/>
              </a:ext>
            </a:extLst>
          </p:cNvPr>
          <p:cNvSpPr>
            <a:spLocks noGrp="1"/>
          </p:cNvSpPr>
          <p:nvPr>
            <p:ph type="dt" sz="half" idx="10"/>
          </p:nvPr>
        </p:nvSpPr>
        <p:spPr/>
        <p:txBody>
          <a:bodyPr/>
          <a:lstStyle/>
          <a:p>
            <a:fld id="{1EB44006-97A4-456B-914B-FA31651D08B6}" type="datetimeFigureOut">
              <a:rPr lang="en-US" smtClean="0"/>
              <a:t>12/9/2025</a:t>
            </a:fld>
            <a:endParaRPr lang="en-US"/>
          </a:p>
        </p:txBody>
      </p:sp>
      <p:sp>
        <p:nvSpPr>
          <p:cNvPr id="6" name="Footer Placeholder 5">
            <a:extLst>
              <a:ext uri="{FF2B5EF4-FFF2-40B4-BE49-F238E27FC236}">
                <a16:creationId xmlns:a16="http://schemas.microsoft.com/office/drawing/2014/main" id="{F7914CF2-3E2F-4F41-89D7-54B0A57F6F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F16832-5D65-4EB8-8D6D-81D7CCF8BAA6}"/>
              </a:ext>
            </a:extLst>
          </p:cNvPr>
          <p:cNvSpPr>
            <a:spLocks noGrp="1"/>
          </p:cNvSpPr>
          <p:nvPr>
            <p:ph type="sldNum" sz="quarter" idx="12"/>
          </p:nvPr>
        </p:nvSpPr>
        <p:spPr/>
        <p:txBody>
          <a:bodyPr/>
          <a:lstStyle/>
          <a:p>
            <a:fld id="{DEA2AFE3-3187-4BF2-AF08-AAC3D54DBBA4}" type="slidenum">
              <a:rPr lang="en-US" smtClean="0"/>
              <a:t>‹#›</a:t>
            </a:fld>
            <a:endParaRPr lang="en-US"/>
          </a:p>
        </p:txBody>
      </p:sp>
    </p:spTree>
    <p:extLst>
      <p:ext uri="{BB962C8B-B14F-4D97-AF65-F5344CB8AC3E}">
        <p14:creationId xmlns:p14="http://schemas.microsoft.com/office/powerpoint/2010/main" val="1225764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C6E90-86D7-4DEB-A482-CFCE95269B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DC6E16-B989-4D66-A90B-1E6215CDE4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9A34FE-5E26-461E-97AE-A3E48332DE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18C4AAD-CA01-4EB0-931A-D187748652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0D8A0B-B2A1-4F57-A18F-2B15916A9A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41D858D-9A67-48ED-98BB-3537B17B06CD}"/>
              </a:ext>
            </a:extLst>
          </p:cNvPr>
          <p:cNvSpPr>
            <a:spLocks noGrp="1"/>
          </p:cNvSpPr>
          <p:nvPr>
            <p:ph type="dt" sz="half" idx="10"/>
          </p:nvPr>
        </p:nvSpPr>
        <p:spPr/>
        <p:txBody>
          <a:bodyPr/>
          <a:lstStyle/>
          <a:p>
            <a:fld id="{1EB44006-97A4-456B-914B-FA31651D08B6}" type="datetimeFigureOut">
              <a:rPr lang="en-US" smtClean="0"/>
              <a:t>12/9/2025</a:t>
            </a:fld>
            <a:endParaRPr lang="en-US"/>
          </a:p>
        </p:txBody>
      </p:sp>
      <p:sp>
        <p:nvSpPr>
          <p:cNvPr id="8" name="Footer Placeholder 7">
            <a:extLst>
              <a:ext uri="{FF2B5EF4-FFF2-40B4-BE49-F238E27FC236}">
                <a16:creationId xmlns:a16="http://schemas.microsoft.com/office/drawing/2014/main" id="{81F0A1F1-B911-4F48-9CC7-D6A0F7833E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2427AD-1A23-4AB4-941D-116636E81C05}"/>
              </a:ext>
            </a:extLst>
          </p:cNvPr>
          <p:cNvSpPr>
            <a:spLocks noGrp="1"/>
          </p:cNvSpPr>
          <p:nvPr>
            <p:ph type="sldNum" sz="quarter" idx="12"/>
          </p:nvPr>
        </p:nvSpPr>
        <p:spPr/>
        <p:txBody>
          <a:bodyPr/>
          <a:lstStyle/>
          <a:p>
            <a:fld id="{DEA2AFE3-3187-4BF2-AF08-AAC3D54DBBA4}" type="slidenum">
              <a:rPr lang="en-US" smtClean="0"/>
              <a:t>‹#›</a:t>
            </a:fld>
            <a:endParaRPr lang="en-US"/>
          </a:p>
        </p:txBody>
      </p:sp>
    </p:spTree>
    <p:extLst>
      <p:ext uri="{BB962C8B-B14F-4D97-AF65-F5344CB8AC3E}">
        <p14:creationId xmlns:p14="http://schemas.microsoft.com/office/powerpoint/2010/main" val="1909700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DDB2B-F402-42FD-A8C2-0CDD1EEC23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3148D8B-BA71-4CEE-A6C4-2C9B8410458E}"/>
              </a:ext>
            </a:extLst>
          </p:cNvPr>
          <p:cNvSpPr>
            <a:spLocks noGrp="1"/>
          </p:cNvSpPr>
          <p:nvPr>
            <p:ph type="dt" sz="half" idx="10"/>
          </p:nvPr>
        </p:nvSpPr>
        <p:spPr/>
        <p:txBody>
          <a:bodyPr/>
          <a:lstStyle/>
          <a:p>
            <a:fld id="{1EB44006-97A4-456B-914B-FA31651D08B6}" type="datetimeFigureOut">
              <a:rPr lang="en-US" smtClean="0"/>
              <a:t>12/9/2025</a:t>
            </a:fld>
            <a:endParaRPr lang="en-US"/>
          </a:p>
        </p:txBody>
      </p:sp>
      <p:sp>
        <p:nvSpPr>
          <p:cNvPr id="4" name="Footer Placeholder 3">
            <a:extLst>
              <a:ext uri="{FF2B5EF4-FFF2-40B4-BE49-F238E27FC236}">
                <a16:creationId xmlns:a16="http://schemas.microsoft.com/office/drawing/2014/main" id="{E846A24A-D2AC-4F91-AE10-CE12CD44B4A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307BA3-B1F0-4599-9487-AE778CE17432}"/>
              </a:ext>
            </a:extLst>
          </p:cNvPr>
          <p:cNvSpPr>
            <a:spLocks noGrp="1"/>
          </p:cNvSpPr>
          <p:nvPr>
            <p:ph type="sldNum" sz="quarter" idx="12"/>
          </p:nvPr>
        </p:nvSpPr>
        <p:spPr/>
        <p:txBody>
          <a:bodyPr/>
          <a:lstStyle/>
          <a:p>
            <a:fld id="{DEA2AFE3-3187-4BF2-AF08-AAC3D54DBBA4}" type="slidenum">
              <a:rPr lang="en-US" smtClean="0"/>
              <a:t>‹#›</a:t>
            </a:fld>
            <a:endParaRPr lang="en-US"/>
          </a:p>
        </p:txBody>
      </p:sp>
    </p:spTree>
    <p:extLst>
      <p:ext uri="{BB962C8B-B14F-4D97-AF65-F5344CB8AC3E}">
        <p14:creationId xmlns:p14="http://schemas.microsoft.com/office/powerpoint/2010/main" val="159862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2BEFB5-CEB9-474A-AC74-160E84A90F13}"/>
              </a:ext>
            </a:extLst>
          </p:cNvPr>
          <p:cNvSpPr>
            <a:spLocks noGrp="1"/>
          </p:cNvSpPr>
          <p:nvPr>
            <p:ph type="dt" sz="half" idx="10"/>
          </p:nvPr>
        </p:nvSpPr>
        <p:spPr/>
        <p:txBody>
          <a:bodyPr/>
          <a:lstStyle/>
          <a:p>
            <a:fld id="{1EB44006-97A4-456B-914B-FA31651D08B6}" type="datetimeFigureOut">
              <a:rPr lang="en-US" smtClean="0"/>
              <a:t>12/9/2025</a:t>
            </a:fld>
            <a:endParaRPr lang="en-US"/>
          </a:p>
        </p:txBody>
      </p:sp>
      <p:sp>
        <p:nvSpPr>
          <p:cNvPr id="3" name="Footer Placeholder 2">
            <a:extLst>
              <a:ext uri="{FF2B5EF4-FFF2-40B4-BE49-F238E27FC236}">
                <a16:creationId xmlns:a16="http://schemas.microsoft.com/office/drawing/2014/main" id="{E1A960F2-76EE-466C-A295-BC20687074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9F2982-8247-418A-B334-58DD89C4DAF2}"/>
              </a:ext>
            </a:extLst>
          </p:cNvPr>
          <p:cNvSpPr>
            <a:spLocks noGrp="1"/>
          </p:cNvSpPr>
          <p:nvPr>
            <p:ph type="sldNum" sz="quarter" idx="12"/>
          </p:nvPr>
        </p:nvSpPr>
        <p:spPr/>
        <p:txBody>
          <a:bodyPr/>
          <a:lstStyle/>
          <a:p>
            <a:fld id="{DEA2AFE3-3187-4BF2-AF08-AAC3D54DBBA4}" type="slidenum">
              <a:rPr lang="en-US" smtClean="0"/>
              <a:t>‹#›</a:t>
            </a:fld>
            <a:endParaRPr lang="en-US"/>
          </a:p>
        </p:txBody>
      </p:sp>
    </p:spTree>
    <p:extLst>
      <p:ext uri="{BB962C8B-B14F-4D97-AF65-F5344CB8AC3E}">
        <p14:creationId xmlns:p14="http://schemas.microsoft.com/office/powerpoint/2010/main" val="3522837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425C-F5CB-45CE-B2D6-39C89083FB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23D626-E650-4F1F-9C38-7FBF69F20F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62C3CF-6A56-4577-A1DE-67237DC60F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66CBCF-558A-438B-A05A-B17C3D6F6445}"/>
              </a:ext>
            </a:extLst>
          </p:cNvPr>
          <p:cNvSpPr>
            <a:spLocks noGrp="1"/>
          </p:cNvSpPr>
          <p:nvPr>
            <p:ph type="dt" sz="half" idx="10"/>
          </p:nvPr>
        </p:nvSpPr>
        <p:spPr/>
        <p:txBody>
          <a:bodyPr/>
          <a:lstStyle/>
          <a:p>
            <a:fld id="{1EB44006-97A4-456B-914B-FA31651D08B6}" type="datetimeFigureOut">
              <a:rPr lang="en-US" smtClean="0"/>
              <a:t>12/9/2025</a:t>
            </a:fld>
            <a:endParaRPr lang="en-US"/>
          </a:p>
        </p:txBody>
      </p:sp>
      <p:sp>
        <p:nvSpPr>
          <p:cNvPr id="6" name="Footer Placeholder 5">
            <a:extLst>
              <a:ext uri="{FF2B5EF4-FFF2-40B4-BE49-F238E27FC236}">
                <a16:creationId xmlns:a16="http://schemas.microsoft.com/office/drawing/2014/main" id="{AF19E8FB-4836-481B-849F-65AF3FFD04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A227CF-780E-415B-9E7F-5312C5387E52}"/>
              </a:ext>
            </a:extLst>
          </p:cNvPr>
          <p:cNvSpPr>
            <a:spLocks noGrp="1"/>
          </p:cNvSpPr>
          <p:nvPr>
            <p:ph type="sldNum" sz="quarter" idx="12"/>
          </p:nvPr>
        </p:nvSpPr>
        <p:spPr/>
        <p:txBody>
          <a:bodyPr/>
          <a:lstStyle/>
          <a:p>
            <a:fld id="{DEA2AFE3-3187-4BF2-AF08-AAC3D54DBBA4}" type="slidenum">
              <a:rPr lang="en-US" smtClean="0"/>
              <a:t>‹#›</a:t>
            </a:fld>
            <a:endParaRPr lang="en-US"/>
          </a:p>
        </p:txBody>
      </p:sp>
    </p:spTree>
    <p:extLst>
      <p:ext uri="{BB962C8B-B14F-4D97-AF65-F5344CB8AC3E}">
        <p14:creationId xmlns:p14="http://schemas.microsoft.com/office/powerpoint/2010/main" val="379835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31FC9-BC00-4CF5-94EB-9EEFEA2BB4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6AAA7F-87B7-4A5A-9021-554164D716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FC9813F-94BD-4802-9573-4B0D9149EB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5078C-D4C8-40F8-B262-E408864A8C67}"/>
              </a:ext>
            </a:extLst>
          </p:cNvPr>
          <p:cNvSpPr>
            <a:spLocks noGrp="1"/>
          </p:cNvSpPr>
          <p:nvPr>
            <p:ph type="dt" sz="half" idx="10"/>
          </p:nvPr>
        </p:nvSpPr>
        <p:spPr/>
        <p:txBody>
          <a:bodyPr/>
          <a:lstStyle/>
          <a:p>
            <a:fld id="{1EB44006-97A4-456B-914B-FA31651D08B6}" type="datetimeFigureOut">
              <a:rPr lang="en-US" smtClean="0"/>
              <a:t>12/9/2025</a:t>
            </a:fld>
            <a:endParaRPr lang="en-US"/>
          </a:p>
        </p:txBody>
      </p:sp>
      <p:sp>
        <p:nvSpPr>
          <p:cNvPr id="6" name="Footer Placeholder 5">
            <a:extLst>
              <a:ext uri="{FF2B5EF4-FFF2-40B4-BE49-F238E27FC236}">
                <a16:creationId xmlns:a16="http://schemas.microsoft.com/office/drawing/2014/main" id="{56155B70-C839-4BE5-85CE-0DD7292C39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E81AB4-F176-44AE-8BAD-479BD09AEA76}"/>
              </a:ext>
            </a:extLst>
          </p:cNvPr>
          <p:cNvSpPr>
            <a:spLocks noGrp="1"/>
          </p:cNvSpPr>
          <p:nvPr>
            <p:ph type="sldNum" sz="quarter" idx="12"/>
          </p:nvPr>
        </p:nvSpPr>
        <p:spPr/>
        <p:txBody>
          <a:bodyPr/>
          <a:lstStyle/>
          <a:p>
            <a:fld id="{DEA2AFE3-3187-4BF2-AF08-AAC3D54DBBA4}" type="slidenum">
              <a:rPr lang="en-US" smtClean="0"/>
              <a:t>‹#›</a:t>
            </a:fld>
            <a:endParaRPr lang="en-US"/>
          </a:p>
        </p:txBody>
      </p:sp>
    </p:spTree>
    <p:extLst>
      <p:ext uri="{BB962C8B-B14F-4D97-AF65-F5344CB8AC3E}">
        <p14:creationId xmlns:p14="http://schemas.microsoft.com/office/powerpoint/2010/main" val="2822454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4FF88-1BFC-440D-B980-3A149E29123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E88365E-C756-4904-B5CC-049AEB5536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E3CFC7-F035-4C6E-9E9E-B3E377D44AF8}"/>
              </a:ext>
            </a:extLst>
          </p:cNvPr>
          <p:cNvSpPr>
            <a:spLocks noGrp="1"/>
          </p:cNvSpPr>
          <p:nvPr>
            <p:ph type="dt" sz="half" idx="10"/>
          </p:nvPr>
        </p:nvSpPr>
        <p:spPr/>
        <p:txBody>
          <a:bodyPr/>
          <a:lstStyle/>
          <a:p>
            <a:fld id="{1EB44006-97A4-456B-914B-FA31651D08B6}" type="datetimeFigureOut">
              <a:rPr lang="en-US" smtClean="0"/>
              <a:t>12/9/2025</a:t>
            </a:fld>
            <a:endParaRPr lang="en-US"/>
          </a:p>
        </p:txBody>
      </p:sp>
      <p:sp>
        <p:nvSpPr>
          <p:cNvPr id="5" name="Footer Placeholder 4">
            <a:extLst>
              <a:ext uri="{FF2B5EF4-FFF2-40B4-BE49-F238E27FC236}">
                <a16:creationId xmlns:a16="http://schemas.microsoft.com/office/drawing/2014/main" id="{2644F958-6A4D-4FCF-A801-011A895427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04CD44-C65A-4FBF-A36C-6D6F363FC897}"/>
              </a:ext>
            </a:extLst>
          </p:cNvPr>
          <p:cNvSpPr>
            <a:spLocks noGrp="1"/>
          </p:cNvSpPr>
          <p:nvPr>
            <p:ph type="sldNum" sz="quarter" idx="12"/>
          </p:nvPr>
        </p:nvSpPr>
        <p:spPr/>
        <p:txBody>
          <a:bodyPr/>
          <a:lstStyle/>
          <a:p>
            <a:fld id="{DEA2AFE3-3187-4BF2-AF08-AAC3D54DBBA4}" type="slidenum">
              <a:rPr lang="en-US" smtClean="0"/>
              <a:t>‹#›</a:t>
            </a:fld>
            <a:endParaRPr lang="en-US"/>
          </a:p>
        </p:txBody>
      </p:sp>
    </p:spTree>
    <p:extLst>
      <p:ext uri="{BB962C8B-B14F-4D97-AF65-F5344CB8AC3E}">
        <p14:creationId xmlns:p14="http://schemas.microsoft.com/office/powerpoint/2010/main" val="3728236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FB8FAA-234A-4009-9262-300F36D9D9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80E9BB-F3A2-4000-A8D9-262D027102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3C4A88-E0FF-4342-A408-EB1570936FC9}"/>
              </a:ext>
            </a:extLst>
          </p:cNvPr>
          <p:cNvSpPr>
            <a:spLocks noGrp="1"/>
          </p:cNvSpPr>
          <p:nvPr>
            <p:ph type="dt" sz="half" idx="10"/>
          </p:nvPr>
        </p:nvSpPr>
        <p:spPr/>
        <p:txBody>
          <a:bodyPr/>
          <a:lstStyle/>
          <a:p>
            <a:fld id="{1EB44006-97A4-456B-914B-FA31651D08B6}" type="datetimeFigureOut">
              <a:rPr lang="en-US" smtClean="0"/>
              <a:t>12/9/2025</a:t>
            </a:fld>
            <a:endParaRPr lang="en-US"/>
          </a:p>
        </p:txBody>
      </p:sp>
      <p:sp>
        <p:nvSpPr>
          <p:cNvPr id="5" name="Footer Placeholder 4">
            <a:extLst>
              <a:ext uri="{FF2B5EF4-FFF2-40B4-BE49-F238E27FC236}">
                <a16:creationId xmlns:a16="http://schemas.microsoft.com/office/drawing/2014/main" id="{8235122D-8F4C-4375-805B-BE2853EE21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C11004-73A7-4E03-9372-76BD17ECECCF}"/>
              </a:ext>
            </a:extLst>
          </p:cNvPr>
          <p:cNvSpPr>
            <a:spLocks noGrp="1"/>
          </p:cNvSpPr>
          <p:nvPr>
            <p:ph type="sldNum" sz="quarter" idx="12"/>
          </p:nvPr>
        </p:nvSpPr>
        <p:spPr/>
        <p:txBody>
          <a:bodyPr/>
          <a:lstStyle/>
          <a:p>
            <a:fld id="{DEA2AFE3-3187-4BF2-AF08-AAC3D54DBBA4}" type="slidenum">
              <a:rPr lang="en-US" smtClean="0"/>
              <a:t>‹#›</a:t>
            </a:fld>
            <a:endParaRPr lang="en-US"/>
          </a:p>
        </p:txBody>
      </p:sp>
    </p:spTree>
    <p:extLst>
      <p:ext uri="{BB962C8B-B14F-4D97-AF65-F5344CB8AC3E}">
        <p14:creationId xmlns:p14="http://schemas.microsoft.com/office/powerpoint/2010/main" val="1852270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5CBFF9-1ACF-48CC-8482-C35C7C2958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8BAE4F2-6553-4374-9294-502FE4BBBD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31874D-9B0C-4F59-A74B-7BA8EA6087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B44006-97A4-456B-914B-FA31651D08B6}" type="datetimeFigureOut">
              <a:rPr lang="en-US" smtClean="0"/>
              <a:t>12/9/2025</a:t>
            </a:fld>
            <a:endParaRPr lang="en-US"/>
          </a:p>
        </p:txBody>
      </p:sp>
      <p:sp>
        <p:nvSpPr>
          <p:cNvPr id="5" name="Footer Placeholder 4">
            <a:extLst>
              <a:ext uri="{FF2B5EF4-FFF2-40B4-BE49-F238E27FC236}">
                <a16:creationId xmlns:a16="http://schemas.microsoft.com/office/drawing/2014/main" id="{70B8542E-5C6F-4C85-ACDB-2E06BA9B62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9F5654A-DEFD-4648-942A-92BF8BDF5A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A2AFE3-3187-4BF2-AF08-AAC3D54DBBA4}" type="slidenum">
              <a:rPr lang="en-US" smtClean="0"/>
              <a:t>‹#›</a:t>
            </a:fld>
            <a:endParaRPr lang="en-US"/>
          </a:p>
        </p:txBody>
      </p:sp>
    </p:spTree>
    <p:extLst>
      <p:ext uri="{BB962C8B-B14F-4D97-AF65-F5344CB8AC3E}">
        <p14:creationId xmlns:p14="http://schemas.microsoft.com/office/powerpoint/2010/main" val="38190377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0AEA7-64DE-4490-8C02-516AAADC5E39}"/>
              </a:ext>
            </a:extLst>
          </p:cNvPr>
          <p:cNvSpPr>
            <a:spLocks noGrp="1"/>
          </p:cNvSpPr>
          <p:nvPr>
            <p:ph type="ctrTitle"/>
          </p:nvPr>
        </p:nvSpPr>
        <p:spPr/>
        <p:txBody>
          <a:bodyPr/>
          <a:lstStyle/>
          <a:p>
            <a:r>
              <a:rPr lang="en-US" dirty="0"/>
              <a:t>System Analysis and Design</a:t>
            </a:r>
          </a:p>
        </p:txBody>
      </p:sp>
      <p:sp>
        <p:nvSpPr>
          <p:cNvPr id="3" name="Subtitle 2">
            <a:extLst>
              <a:ext uri="{FF2B5EF4-FFF2-40B4-BE49-F238E27FC236}">
                <a16:creationId xmlns:a16="http://schemas.microsoft.com/office/drawing/2014/main" id="{1C55C153-51A7-4CA6-B51B-E3DD7708BCC3}"/>
              </a:ext>
            </a:extLst>
          </p:cNvPr>
          <p:cNvSpPr>
            <a:spLocks noGrp="1"/>
          </p:cNvSpPr>
          <p:nvPr>
            <p:ph type="subTitle" idx="1"/>
          </p:nvPr>
        </p:nvSpPr>
        <p:spPr/>
        <p:txBody>
          <a:bodyPr/>
          <a:lstStyle/>
          <a:p>
            <a:r>
              <a:rPr lang="en-US" dirty="0"/>
              <a:t>CIT-222 sessional</a:t>
            </a:r>
          </a:p>
        </p:txBody>
      </p:sp>
    </p:spTree>
    <p:extLst>
      <p:ext uri="{BB962C8B-B14F-4D97-AF65-F5344CB8AC3E}">
        <p14:creationId xmlns:p14="http://schemas.microsoft.com/office/powerpoint/2010/main" val="2746790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Single Corner Snipped 7">
            <a:extLst>
              <a:ext uri="{FF2B5EF4-FFF2-40B4-BE49-F238E27FC236}">
                <a16:creationId xmlns:a16="http://schemas.microsoft.com/office/drawing/2014/main" id="{D3150666-3582-48F0-B2F3-52F222C2653A}"/>
              </a:ext>
            </a:extLst>
          </p:cNvPr>
          <p:cNvSpPr/>
          <p:nvPr/>
        </p:nvSpPr>
        <p:spPr>
          <a:xfrm>
            <a:off x="1016752" y="821239"/>
            <a:ext cx="10276889" cy="5661234"/>
          </a:xfrm>
          <a:prstGeom prst="snip1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aphicFrame>
        <p:nvGraphicFramePr>
          <p:cNvPr id="9" name="Table 8">
            <a:extLst>
              <a:ext uri="{FF2B5EF4-FFF2-40B4-BE49-F238E27FC236}">
                <a16:creationId xmlns:a16="http://schemas.microsoft.com/office/drawing/2014/main" id="{644ADB98-0E49-4798-B34C-05F4B1484E4D}"/>
              </a:ext>
            </a:extLst>
          </p:cNvPr>
          <p:cNvGraphicFramePr>
            <a:graphicFrameLocks noGrp="1"/>
          </p:cNvGraphicFramePr>
          <p:nvPr>
            <p:extLst>
              <p:ext uri="{D42A27DB-BD31-4B8C-83A1-F6EECF244321}">
                <p14:modId xmlns:p14="http://schemas.microsoft.com/office/powerpoint/2010/main" val="1376586943"/>
              </p:ext>
            </p:extLst>
          </p:nvPr>
        </p:nvGraphicFramePr>
        <p:xfrm>
          <a:off x="1016753" y="1785601"/>
          <a:ext cx="10276889" cy="4696872"/>
        </p:xfrm>
        <a:graphic>
          <a:graphicData uri="http://schemas.openxmlformats.org/drawingml/2006/table">
            <a:tbl>
              <a:tblPr firstRow="1" firstCol="1" bandRow="1">
                <a:tableStyleId>{3B4B98B0-60AC-42C2-AFA5-B58CD77FA1E5}</a:tableStyleId>
              </a:tblPr>
              <a:tblGrid>
                <a:gridCol w="3305025">
                  <a:extLst>
                    <a:ext uri="{9D8B030D-6E8A-4147-A177-3AD203B41FA5}">
                      <a16:colId xmlns:a16="http://schemas.microsoft.com/office/drawing/2014/main" val="2457001129"/>
                    </a:ext>
                  </a:extLst>
                </a:gridCol>
                <a:gridCol w="6971864">
                  <a:extLst>
                    <a:ext uri="{9D8B030D-6E8A-4147-A177-3AD203B41FA5}">
                      <a16:colId xmlns:a16="http://schemas.microsoft.com/office/drawing/2014/main" val="1691168221"/>
                    </a:ext>
                  </a:extLst>
                </a:gridCol>
              </a:tblGrid>
              <a:tr h="962690">
                <a:tc gridSpan="2">
                  <a:txBody>
                    <a:bodyPr/>
                    <a:lstStyle/>
                    <a:p>
                      <a:pPr marL="0" marR="0" algn="ctr">
                        <a:lnSpc>
                          <a:spcPct val="115000"/>
                        </a:lnSpc>
                        <a:spcBef>
                          <a:spcPts val="0"/>
                        </a:spcBef>
                        <a:spcAft>
                          <a:spcPts val="0"/>
                        </a:spcAft>
                        <a:tabLst>
                          <a:tab pos="1828800" algn="l"/>
                        </a:tabLst>
                      </a:pPr>
                      <a:r>
                        <a:rPr lang="en-US" sz="1800" kern="100">
                          <a:effectLst/>
                        </a:rPr>
                        <a:t>Submitted By / Team members:</a:t>
                      </a:r>
                      <a:endParaRPr lang="en-US" sz="1600" kern="100">
                        <a:effectLst/>
                        <a:latin typeface="Times New Roman" panose="02020603050405020304" pitchFamily="18" charset="0"/>
                        <a:ea typeface="Aptos"/>
                        <a:cs typeface="Times New Roman" panose="02020603050405020304" pitchFamily="18" charset="0"/>
                      </a:endParaRPr>
                    </a:p>
                  </a:txBody>
                  <a:tcPr marL="68580" marR="68580" marT="0" marB="0" anchor="ctr"/>
                </a:tc>
                <a:tc hMerge="1">
                  <a:txBody>
                    <a:bodyPr/>
                    <a:lstStyle/>
                    <a:p>
                      <a:endParaRPr lang="en-US"/>
                    </a:p>
                  </a:txBody>
                  <a:tcPr/>
                </a:tc>
                <a:extLst>
                  <a:ext uri="{0D108BD9-81ED-4DB2-BD59-A6C34878D82A}">
                    <a16:rowId xmlns:a16="http://schemas.microsoft.com/office/drawing/2014/main" val="3819944101"/>
                  </a:ext>
                </a:extLst>
              </a:tr>
              <a:tr h="962690">
                <a:tc>
                  <a:txBody>
                    <a:bodyPr/>
                    <a:lstStyle/>
                    <a:p>
                      <a:pPr marL="0" marR="0" algn="ctr">
                        <a:lnSpc>
                          <a:spcPct val="115000"/>
                        </a:lnSpc>
                        <a:spcBef>
                          <a:spcPts val="0"/>
                        </a:spcBef>
                        <a:spcAft>
                          <a:spcPts val="0"/>
                        </a:spcAft>
                        <a:tabLst>
                          <a:tab pos="1828800" algn="l"/>
                        </a:tabLst>
                      </a:pPr>
                      <a:r>
                        <a:rPr lang="en-US" sz="1800" kern="100">
                          <a:effectLst/>
                        </a:rPr>
                        <a:t>ID:</a:t>
                      </a:r>
                      <a:endParaRPr lang="en-US" sz="1600" kern="100">
                        <a:effectLst/>
                        <a:latin typeface="Times New Roman" panose="02020603050405020304" pitchFamily="18" charset="0"/>
                        <a:ea typeface="Aptos"/>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tabLst>
                          <a:tab pos="1828800" algn="l"/>
                        </a:tabLst>
                      </a:pPr>
                      <a:r>
                        <a:rPr lang="en-US" sz="1800" kern="100">
                          <a:effectLst/>
                        </a:rPr>
                        <a:t>Name:</a:t>
                      </a:r>
                      <a:endParaRPr lang="en-US" sz="1600" kern="100">
                        <a:effectLst/>
                        <a:latin typeface="Times New Roman" panose="02020603050405020304" pitchFamily="18" charset="0"/>
                        <a:ea typeface="Aptos"/>
                        <a:cs typeface="Times New Roman" panose="02020603050405020304" pitchFamily="18" charset="0"/>
                      </a:endParaRPr>
                    </a:p>
                  </a:txBody>
                  <a:tcPr marL="68580" marR="68580" marT="0" marB="0" anchor="ctr"/>
                </a:tc>
                <a:extLst>
                  <a:ext uri="{0D108BD9-81ED-4DB2-BD59-A6C34878D82A}">
                    <a16:rowId xmlns:a16="http://schemas.microsoft.com/office/drawing/2014/main" val="119890862"/>
                  </a:ext>
                </a:extLst>
              </a:tr>
              <a:tr h="962690">
                <a:tc>
                  <a:txBody>
                    <a:bodyPr/>
                    <a:lstStyle/>
                    <a:p>
                      <a:pPr marL="0" marR="0" algn="ctr">
                        <a:lnSpc>
                          <a:spcPct val="115000"/>
                        </a:lnSpc>
                        <a:spcBef>
                          <a:spcPts val="0"/>
                        </a:spcBef>
                        <a:spcAft>
                          <a:spcPts val="0"/>
                        </a:spcAft>
                        <a:tabLst>
                          <a:tab pos="1828800" algn="l"/>
                        </a:tabLst>
                      </a:pPr>
                      <a:r>
                        <a:rPr lang="en-US" sz="1800" kern="100">
                          <a:effectLst/>
                        </a:rPr>
                        <a:t>2202017</a:t>
                      </a:r>
                      <a:endParaRPr lang="en-US" sz="1600" kern="100">
                        <a:effectLst/>
                        <a:latin typeface="Times New Roman" panose="02020603050405020304" pitchFamily="18" charset="0"/>
                        <a:ea typeface="Aptos"/>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tabLst>
                          <a:tab pos="1828800" algn="l"/>
                        </a:tabLst>
                      </a:pPr>
                      <a:r>
                        <a:rPr lang="en-US" sz="1800" kern="100" dirty="0">
                          <a:effectLst/>
                        </a:rPr>
                        <a:t>Md. </a:t>
                      </a:r>
                      <a:r>
                        <a:rPr lang="en-US" sz="1800" kern="100" dirty="0" err="1">
                          <a:effectLst/>
                        </a:rPr>
                        <a:t>Gohora</a:t>
                      </a:r>
                      <a:r>
                        <a:rPr lang="en-US" sz="1800" kern="100" dirty="0">
                          <a:effectLst/>
                        </a:rPr>
                        <a:t> Mamun (Team Leader)</a:t>
                      </a:r>
                      <a:endParaRPr lang="en-US" sz="1600" kern="100" dirty="0">
                        <a:effectLst/>
                        <a:latin typeface="Times New Roman" panose="02020603050405020304" pitchFamily="18" charset="0"/>
                        <a:ea typeface="Aptos"/>
                        <a:cs typeface="Times New Roman" panose="02020603050405020304" pitchFamily="18" charset="0"/>
                      </a:endParaRPr>
                    </a:p>
                  </a:txBody>
                  <a:tcPr marL="68580" marR="68580" marT="0" marB="0" anchor="ctr"/>
                </a:tc>
                <a:extLst>
                  <a:ext uri="{0D108BD9-81ED-4DB2-BD59-A6C34878D82A}">
                    <a16:rowId xmlns:a16="http://schemas.microsoft.com/office/drawing/2014/main" val="2055972148"/>
                  </a:ext>
                </a:extLst>
              </a:tr>
              <a:tr h="962690">
                <a:tc>
                  <a:txBody>
                    <a:bodyPr/>
                    <a:lstStyle/>
                    <a:p>
                      <a:pPr marL="0" marR="0" algn="ctr">
                        <a:lnSpc>
                          <a:spcPct val="115000"/>
                        </a:lnSpc>
                        <a:spcBef>
                          <a:spcPts val="0"/>
                        </a:spcBef>
                        <a:spcAft>
                          <a:spcPts val="0"/>
                        </a:spcAft>
                        <a:tabLst>
                          <a:tab pos="1828800" algn="l"/>
                        </a:tabLst>
                      </a:pPr>
                      <a:r>
                        <a:rPr lang="en-US" sz="1800" kern="100">
                          <a:effectLst/>
                        </a:rPr>
                        <a:t>2202075</a:t>
                      </a:r>
                      <a:endParaRPr lang="en-US" sz="1600" kern="100">
                        <a:effectLst/>
                        <a:latin typeface="Times New Roman" panose="02020603050405020304" pitchFamily="18" charset="0"/>
                        <a:ea typeface="Aptos"/>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tabLst>
                          <a:tab pos="1828800" algn="l"/>
                        </a:tabLst>
                      </a:pPr>
                      <a:r>
                        <a:rPr lang="en-US" sz="1800" kern="100">
                          <a:effectLst/>
                        </a:rPr>
                        <a:t>Tauhid Shahriar Shourove</a:t>
                      </a:r>
                      <a:endParaRPr lang="en-US" sz="1600" kern="100">
                        <a:effectLst/>
                        <a:latin typeface="Times New Roman" panose="02020603050405020304" pitchFamily="18" charset="0"/>
                        <a:ea typeface="Aptos"/>
                        <a:cs typeface="Times New Roman" panose="02020603050405020304" pitchFamily="18" charset="0"/>
                      </a:endParaRPr>
                    </a:p>
                  </a:txBody>
                  <a:tcPr marL="68580" marR="68580" marT="0" marB="0" anchor="ctr"/>
                </a:tc>
                <a:extLst>
                  <a:ext uri="{0D108BD9-81ED-4DB2-BD59-A6C34878D82A}">
                    <a16:rowId xmlns:a16="http://schemas.microsoft.com/office/drawing/2014/main" val="4155767235"/>
                  </a:ext>
                </a:extLst>
              </a:tr>
              <a:tr h="846112">
                <a:tc>
                  <a:txBody>
                    <a:bodyPr/>
                    <a:lstStyle/>
                    <a:p>
                      <a:pPr marL="0" marR="0" algn="ctr">
                        <a:lnSpc>
                          <a:spcPct val="115000"/>
                        </a:lnSpc>
                        <a:spcBef>
                          <a:spcPts val="0"/>
                        </a:spcBef>
                        <a:spcAft>
                          <a:spcPts val="0"/>
                        </a:spcAft>
                        <a:tabLst>
                          <a:tab pos="1828800" algn="l"/>
                        </a:tabLst>
                      </a:pPr>
                      <a:r>
                        <a:rPr lang="en-US" sz="1800" kern="100">
                          <a:effectLst/>
                        </a:rPr>
                        <a:t>2202076</a:t>
                      </a:r>
                      <a:endParaRPr lang="en-US" sz="1600" kern="100">
                        <a:effectLst/>
                        <a:latin typeface="Times New Roman" panose="02020603050405020304" pitchFamily="18" charset="0"/>
                        <a:ea typeface="Aptos"/>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tabLst>
                          <a:tab pos="1828800" algn="l"/>
                        </a:tabLst>
                      </a:pPr>
                      <a:r>
                        <a:rPr lang="en-US" sz="1800" kern="100" dirty="0">
                          <a:effectLst/>
                        </a:rPr>
                        <a:t>Md. </a:t>
                      </a:r>
                      <a:r>
                        <a:rPr lang="en-US" sz="1800" kern="100" dirty="0" err="1">
                          <a:effectLst/>
                        </a:rPr>
                        <a:t>Nafis</a:t>
                      </a:r>
                      <a:r>
                        <a:rPr lang="en-US" sz="1800" kern="100" dirty="0">
                          <a:effectLst/>
                        </a:rPr>
                        <a:t> Islam</a:t>
                      </a:r>
                      <a:endParaRPr lang="en-US" sz="1600" kern="100" dirty="0">
                        <a:effectLst/>
                        <a:latin typeface="Times New Roman" panose="02020603050405020304" pitchFamily="18" charset="0"/>
                        <a:ea typeface="Aptos"/>
                        <a:cs typeface="Times New Roman" panose="02020603050405020304" pitchFamily="18" charset="0"/>
                      </a:endParaRPr>
                    </a:p>
                  </a:txBody>
                  <a:tcPr marL="68580" marR="68580" marT="0" marB="0" anchor="ctr"/>
                </a:tc>
                <a:extLst>
                  <a:ext uri="{0D108BD9-81ED-4DB2-BD59-A6C34878D82A}">
                    <a16:rowId xmlns:a16="http://schemas.microsoft.com/office/drawing/2014/main" val="1857832634"/>
                  </a:ext>
                </a:extLst>
              </a:tr>
            </a:tbl>
          </a:graphicData>
        </a:graphic>
      </p:graphicFrame>
    </p:spTree>
    <p:extLst>
      <p:ext uri="{BB962C8B-B14F-4D97-AF65-F5344CB8AC3E}">
        <p14:creationId xmlns:p14="http://schemas.microsoft.com/office/powerpoint/2010/main" val="3148608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4891D-9935-4169-8F06-3CA6B98FD872}"/>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2B0DF0F2-BD01-4BFA-913B-C8E4BD132D82}"/>
              </a:ext>
            </a:extLst>
          </p:cNvPr>
          <p:cNvSpPr>
            <a:spLocks noGrp="1"/>
          </p:cNvSpPr>
          <p:nvPr>
            <p:ph idx="1"/>
          </p:nvPr>
        </p:nvSpPr>
        <p:spPr>
          <a:xfrm>
            <a:off x="368968" y="1460500"/>
            <a:ext cx="11454064" cy="5032375"/>
          </a:xfrm>
        </p:spPr>
        <p:txBody>
          <a:bodyPr>
            <a:normAutofit fontScale="77500" lnSpcReduction="20000"/>
          </a:bodyPr>
          <a:lstStyle/>
          <a:p>
            <a:pPr marL="0" indent="0" algn="just">
              <a:lnSpc>
                <a:spcPct val="160000"/>
              </a:lnSpc>
              <a:buNone/>
            </a:pPr>
            <a:r>
              <a:rPr lang="en-US" b="0" i="0" dirty="0">
                <a:effectLst/>
              </a:rPr>
              <a:t>The </a:t>
            </a:r>
            <a:r>
              <a:rPr lang="en-US" b="1" i="0" dirty="0">
                <a:effectLst/>
              </a:rPr>
              <a:t>Student Fee Payment System</a:t>
            </a:r>
            <a:r>
              <a:rPr lang="en-US" b="0" i="0" dirty="0">
                <a:effectLst/>
              </a:rPr>
              <a:t> is a web-based platform designed to streamline and digitalize the fee payment process for educational institutions. This system enables students to pay their semester fees securely and conveniently through multiple payment channels, while providing administrators with an efficient tool </a:t>
            </a:r>
            <a:r>
              <a:rPr lang="en-US" b="1" i="0" dirty="0">
                <a:effectLst/>
              </a:rPr>
              <a:t>to manage, verify, and track all financial transactions from a centralized dashboard.</a:t>
            </a:r>
            <a:endParaRPr lang="en-US" b="0" i="0" dirty="0">
              <a:effectLst/>
            </a:endParaRPr>
          </a:p>
          <a:p>
            <a:pPr marL="0" indent="0" algn="just">
              <a:lnSpc>
                <a:spcPct val="160000"/>
              </a:lnSpc>
              <a:buNone/>
            </a:pPr>
            <a:r>
              <a:rPr lang="en-US" b="0" i="0" dirty="0">
                <a:effectLst/>
              </a:rPr>
              <a:t>The traditional, manual process of fee collection is often plagued by long queues, paperwork, delayed verification, and a lack of payment flexibility. This project directly addresses these challenges by introducing an automated, transparent, and user-friendly online ecosystem. It eliminates the need for physical presence, reduces administrative overhead, and minimizes errors, ensuring a smoother financial operation for both students and the institution's administration.</a:t>
            </a:r>
          </a:p>
          <a:p>
            <a:pPr algn="just">
              <a:lnSpc>
                <a:spcPct val="160000"/>
              </a:lnSpc>
            </a:pPr>
            <a:endParaRPr lang="en-US" dirty="0"/>
          </a:p>
        </p:txBody>
      </p:sp>
    </p:spTree>
    <p:extLst>
      <p:ext uri="{BB962C8B-B14F-4D97-AF65-F5344CB8AC3E}">
        <p14:creationId xmlns:p14="http://schemas.microsoft.com/office/powerpoint/2010/main" val="1767947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31E38-B296-48D8-9B3B-9AEBB167C12C}"/>
              </a:ext>
            </a:extLst>
          </p:cNvPr>
          <p:cNvSpPr>
            <a:spLocks noGrp="1"/>
          </p:cNvSpPr>
          <p:nvPr>
            <p:ph type="title"/>
          </p:nvPr>
        </p:nvSpPr>
        <p:spPr/>
        <p:txBody>
          <a:bodyPr/>
          <a:lstStyle/>
          <a:p>
            <a:r>
              <a:rPr lang="en-US" dirty="0"/>
              <a:t>What the Project Does</a:t>
            </a:r>
          </a:p>
        </p:txBody>
      </p:sp>
      <p:sp>
        <p:nvSpPr>
          <p:cNvPr id="3" name="Content Placeholder 2">
            <a:extLst>
              <a:ext uri="{FF2B5EF4-FFF2-40B4-BE49-F238E27FC236}">
                <a16:creationId xmlns:a16="http://schemas.microsoft.com/office/drawing/2014/main" id="{479C5D19-9A08-4DD4-9F5B-29761690BC0E}"/>
              </a:ext>
            </a:extLst>
          </p:cNvPr>
          <p:cNvSpPr>
            <a:spLocks noGrp="1"/>
          </p:cNvSpPr>
          <p:nvPr>
            <p:ph idx="1"/>
          </p:nvPr>
        </p:nvSpPr>
        <p:spPr>
          <a:xfrm>
            <a:off x="838200" y="1552910"/>
            <a:ext cx="10515600" cy="5297068"/>
          </a:xfrm>
        </p:spPr>
        <p:txBody>
          <a:bodyPr>
            <a:noAutofit/>
          </a:bodyPr>
          <a:lstStyle/>
          <a:p>
            <a:pPr marL="0" indent="0">
              <a:buNone/>
            </a:pPr>
            <a:r>
              <a:rPr lang="en-US" sz="2000" b="1" dirty="0"/>
              <a:t>The system allows students to:</a:t>
            </a:r>
          </a:p>
          <a:p>
            <a:endParaRPr lang="en-US" sz="2000" dirty="0"/>
          </a:p>
          <a:p>
            <a:r>
              <a:rPr lang="en-US" sz="2000" dirty="0"/>
              <a:t>Register and log into a personalized dashboard</a:t>
            </a:r>
          </a:p>
          <a:p>
            <a:endParaRPr lang="en-US" sz="2000" dirty="0"/>
          </a:p>
          <a:p>
            <a:r>
              <a:rPr lang="en-US" sz="2000" dirty="0"/>
              <a:t>View pending fees and semester-wise fee structures</a:t>
            </a:r>
          </a:p>
          <a:p>
            <a:endParaRPr lang="en-US" sz="2000" dirty="0"/>
          </a:p>
          <a:p>
            <a:r>
              <a:rPr lang="en-US" sz="2000" dirty="0"/>
              <a:t>Pay fees using multiple methods such as </a:t>
            </a:r>
            <a:r>
              <a:rPr lang="en-US" sz="2000" dirty="0" err="1"/>
              <a:t>Nagad</a:t>
            </a:r>
            <a:r>
              <a:rPr lang="en-US" sz="2000" dirty="0"/>
              <a:t>, bKash, and DBBL</a:t>
            </a:r>
          </a:p>
          <a:p>
            <a:endParaRPr lang="en-US" sz="2000" dirty="0"/>
          </a:p>
          <a:p>
            <a:r>
              <a:rPr lang="en-US" sz="2000" dirty="0"/>
              <a:t>Submit transaction IDs for verification</a:t>
            </a:r>
          </a:p>
          <a:p>
            <a:endParaRPr lang="en-US" sz="2000" dirty="0"/>
          </a:p>
          <a:p>
            <a:r>
              <a:rPr lang="en-US" sz="2000" dirty="0"/>
              <a:t>Track payment status (Pending, Approved, or Rejected)</a:t>
            </a:r>
          </a:p>
          <a:p>
            <a:endParaRPr lang="en-US" sz="2000" dirty="0"/>
          </a:p>
          <a:p>
            <a:r>
              <a:rPr lang="en-US" sz="2000" dirty="0"/>
              <a:t>Resubmit payments if rejected</a:t>
            </a:r>
          </a:p>
        </p:txBody>
      </p:sp>
    </p:spTree>
    <p:extLst>
      <p:ext uri="{BB962C8B-B14F-4D97-AF65-F5344CB8AC3E}">
        <p14:creationId xmlns:p14="http://schemas.microsoft.com/office/powerpoint/2010/main" val="3257496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31E38-B296-48D8-9B3B-9AEBB167C12C}"/>
              </a:ext>
            </a:extLst>
          </p:cNvPr>
          <p:cNvSpPr>
            <a:spLocks noGrp="1"/>
          </p:cNvSpPr>
          <p:nvPr>
            <p:ph type="title"/>
          </p:nvPr>
        </p:nvSpPr>
        <p:spPr/>
        <p:txBody>
          <a:bodyPr/>
          <a:lstStyle/>
          <a:p>
            <a:r>
              <a:rPr lang="en-US" dirty="0"/>
              <a:t>What the Project Does</a:t>
            </a:r>
          </a:p>
        </p:txBody>
      </p:sp>
      <p:sp>
        <p:nvSpPr>
          <p:cNvPr id="3" name="Content Placeholder 2">
            <a:extLst>
              <a:ext uri="{FF2B5EF4-FFF2-40B4-BE49-F238E27FC236}">
                <a16:creationId xmlns:a16="http://schemas.microsoft.com/office/drawing/2014/main" id="{479C5D19-9A08-4DD4-9F5B-29761690BC0E}"/>
              </a:ext>
            </a:extLst>
          </p:cNvPr>
          <p:cNvSpPr>
            <a:spLocks noGrp="1"/>
          </p:cNvSpPr>
          <p:nvPr>
            <p:ph idx="1"/>
          </p:nvPr>
        </p:nvSpPr>
        <p:spPr>
          <a:xfrm>
            <a:off x="838200" y="1690688"/>
            <a:ext cx="10515600" cy="3965574"/>
          </a:xfrm>
        </p:spPr>
        <p:txBody>
          <a:bodyPr>
            <a:noAutofit/>
          </a:bodyPr>
          <a:lstStyle/>
          <a:p>
            <a:pPr marL="0" indent="0">
              <a:buNone/>
            </a:pPr>
            <a:r>
              <a:rPr lang="en-US" sz="2000" b="1" dirty="0"/>
              <a:t>For administrators, the system provides:</a:t>
            </a:r>
          </a:p>
          <a:p>
            <a:pPr marL="0" indent="0">
              <a:buNone/>
            </a:pPr>
            <a:endParaRPr lang="en-US" sz="2000" b="1" dirty="0"/>
          </a:p>
          <a:p>
            <a:r>
              <a:rPr lang="en-US" sz="2000" dirty="0"/>
              <a:t>A secure login and dashboard to monitor pending payments</a:t>
            </a:r>
          </a:p>
          <a:p>
            <a:endParaRPr lang="en-US" sz="2000" dirty="0"/>
          </a:p>
          <a:p>
            <a:r>
              <a:rPr lang="en-US" sz="2000" dirty="0"/>
              <a:t>Tools to verify, approve, or reject transactions</a:t>
            </a:r>
          </a:p>
          <a:p>
            <a:endParaRPr lang="en-US" sz="2000" dirty="0"/>
          </a:p>
          <a:p>
            <a:r>
              <a:rPr lang="en-US" sz="2000" dirty="0"/>
              <a:t>Ability to manage semester fees (add, update, view)</a:t>
            </a:r>
          </a:p>
          <a:p>
            <a:endParaRPr lang="en-US" sz="2000" dirty="0"/>
          </a:p>
          <a:p>
            <a:r>
              <a:rPr lang="en-US" sz="2000" dirty="0"/>
              <a:t>Real-time status updates and record-keeping</a:t>
            </a:r>
          </a:p>
        </p:txBody>
      </p:sp>
    </p:spTree>
    <p:extLst>
      <p:ext uri="{BB962C8B-B14F-4D97-AF65-F5344CB8AC3E}">
        <p14:creationId xmlns:p14="http://schemas.microsoft.com/office/powerpoint/2010/main" val="567084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DF8F3-06A3-46B9-9E05-992C6B19F974}"/>
              </a:ext>
            </a:extLst>
          </p:cNvPr>
          <p:cNvSpPr>
            <a:spLocks noGrp="1"/>
          </p:cNvSpPr>
          <p:nvPr>
            <p:ph type="title"/>
          </p:nvPr>
        </p:nvSpPr>
        <p:spPr/>
        <p:txBody>
          <a:bodyPr/>
          <a:lstStyle/>
          <a:p>
            <a:r>
              <a:rPr lang="en-US" dirty="0"/>
              <a:t>How It Works</a:t>
            </a:r>
          </a:p>
        </p:txBody>
      </p:sp>
      <p:sp>
        <p:nvSpPr>
          <p:cNvPr id="3" name="Content Placeholder 2">
            <a:extLst>
              <a:ext uri="{FF2B5EF4-FFF2-40B4-BE49-F238E27FC236}">
                <a16:creationId xmlns:a16="http://schemas.microsoft.com/office/drawing/2014/main" id="{7B24217F-3C12-4408-8370-41D9C18175B5}"/>
              </a:ext>
            </a:extLst>
          </p:cNvPr>
          <p:cNvSpPr>
            <a:spLocks noGrp="1"/>
          </p:cNvSpPr>
          <p:nvPr>
            <p:ph idx="1"/>
          </p:nvPr>
        </p:nvSpPr>
        <p:spPr>
          <a:xfrm>
            <a:off x="673768" y="1761457"/>
            <a:ext cx="10680032" cy="4351338"/>
          </a:xfrm>
        </p:spPr>
        <p:txBody>
          <a:bodyPr>
            <a:noAutofit/>
          </a:bodyPr>
          <a:lstStyle/>
          <a:p>
            <a:r>
              <a:rPr lang="en-US" sz="2000" b="1" dirty="0"/>
              <a:t>Student Registration &amp; Login: </a:t>
            </a:r>
            <a:r>
              <a:rPr lang="en-US" sz="2000" dirty="0"/>
              <a:t>Students create an account or log in using their credentials.</a:t>
            </a:r>
          </a:p>
          <a:p>
            <a:endParaRPr lang="en-US" sz="2000" dirty="0"/>
          </a:p>
          <a:p>
            <a:r>
              <a:rPr lang="en-US" sz="2000" b="1" dirty="0"/>
              <a:t>Fee Viewing &amp; Payment Selection:</a:t>
            </a:r>
            <a:r>
              <a:rPr lang="en-US" sz="2000" dirty="0"/>
              <a:t> Students view their pending fees and choose a preferred payment method.</a:t>
            </a:r>
          </a:p>
          <a:p>
            <a:endParaRPr lang="en-US" sz="2000" dirty="0"/>
          </a:p>
          <a:p>
            <a:r>
              <a:rPr lang="en-US" sz="2000" b="1" dirty="0"/>
              <a:t>External Payment Processing: </a:t>
            </a:r>
            <a:r>
              <a:rPr lang="en-US" sz="2000" dirty="0"/>
              <a:t>Payments are made through integrated mobile financial services (MFS) or banking platforms.</a:t>
            </a:r>
          </a:p>
          <a:p>
            <a:endParaRPr lang="en-US" sz="2000" dirty="0"/>
          </a:p>
          <a:p>
            <a:r>
              <a:rPr lang="en-US" sz="2000" b="1" dirty="0"/>
              <a:t>Transaction Submission: </a:t>
            </a:r>
            <a:r>
              <a:rPr lang="en-US" sz="2000" dirty="0"/>
              <a:t>Students submit the transaction ID to the system for verification.</a:t>
            </a:r>
          </a:p>
          <a:p>
            <a:endParaRPr lang="en-US" sz="2000" dirty="0"/>
          </a:p>
          <a:p>
            <a:r>
              <a:rPr lang="en-US" sz="2000" b="1" dirty="0"/>
              <a:t>Admin Verification</a:t>
            </a:r>
            <a:r>
              <a:rPr lang="en-US" sz="2000" dirty="0"/>
              <a:t>: Administrators review and validate payments, updating the status accordingly.</a:t>
            </a:r>
          </a:p>
          <a:p>
            <a:endParaRPr lang="en-US" sz="2000" dirty="0"/>
          </a:p>
          <a:p>
            <a:r>
              <a:rPr lang="en-US" sz="2000" b="1" dirty="0"/>
              <a:t>Status Update: </a:t>
            </a:r>
            <a:r>
              <a:rPr lang="en-US" sz="2000" dirty="0"/>
              <a:t>Students receive instant updates on their payment status via their dashboard.</a:t>
            </a:r>
          </a:p>
        </p:txBody>
      </p:sp>
    </p:spTree>
    <p:extLst>
      <p:ext uri="{BB962C8B-B14F-4D97-AF65-F5344CB8AC3E}">
        <p14:creationId xmlns:p14="http://schemas.microsoft.com/office/powerpoint/2010/main" val="923286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4931" y="198071"/>
            <a:ext cx="10644554" cy="654783"/>
          </a:xfrm>
        </p:spPr>
        <p:txBody>
          <a:bodyPr>
            <a:normAutofit fontScale="90000"/>
          </a:bodyPr>
          <a:lstStyle/>
          <a:p>
            <a:pPr algn="ctr"/>
            <a:r>
              <a:rPr lang="en-US" b="1" kern="0" dirty="0">
                <a:solidFill>
                  <a:srgbClr val="365F91"/>
                </a:solidFill>
                <a:latin typeface="Calibri" panose="020F0502020204030204" pitchFamily="34" charset="0"/>
                <a:ea typeface="MS Gothic" panose="020B0609070205080204" pitchFamily="49" charset="-128"/>
                <a:cs typeface="Times New Roman" panose="02020603050405020304" pitchFamily="18" charset="0"/>
              </a:rPr>
              <a:t>Benchmark</a:t>
            </a:r>
            <a:endParaRPr lang="en-US" dirty="0"/>
          </a:p>
        </p:txBody>
      </p:sp>
      <p:graphicFrame>
        <p:nvGraphicFramePr>
          <p:cNvPr id="6" name="Content Placeholder 5">
            <a:extLst>
              <a:ext uri="{FF2B5EF4-FFF2-40B4-BE49-F238E27FC236}">
                <a16:creationId xmlns:a16="http://schemas.microsoft.com/office/drawing/2014/main" id="{D787D870-1625-462A-B332-D81FCCC9DABE}"/>
              </a:ext>
            </a:extLst>
          </p:cNvPr>
          <p:cNvGraphicFramePr>
            <a:graphicFrameLocks noGrp="1"/>
          </p:cNvGraphicFramePr>
          <p:nvPr>
            <p:ph idx="1"/>
            <p:extLst>
              <p:ext uri="{D42A27DB-BD31-4B8C-83A1-F6EECF244321}">
                <p14:modId xmlns:p14="http://schemas.microsoft.com/office/powerpoint/2010/main" val="1034298200"/>
              </p:ext>
            </p:extLst>
          </p:nvPr>
        </p:nvGraphicFramePr>
        <p:xfrm>
          <a:off x="764932" y="771499"/>
          <a:ext cx="10662138" cy="6066231"/>
        </p:xfrm>
        <a:graphic>
          <a:graphicData uri="http://schemas.openxmlformats.org/drawingml/2006/table">
            <a:tbl>
              <a:tblPr firstRow="1" firstCol="1" bandRow="1">
                <a:tableStyleId>{5C22544A-7EE6-4342-B048-85BDC9FD1C3A}</a:tableStyleId>
              </a:tblPr>
              <a:tblGrid>
                <a:gridCol w="2736452">
                  <a:extLst>
                    <a:ext uri="{9D8B030D-6E8A-4147-A177-3AD203B41FA5}">
                      <a16:colId xmlns:a16="http://schemas.microsoft.com/office/drawing/2014/main" val="3003400937"/>
                    </a:ext>
                  </a:extLst>
                </a:gridCol>
                <a:gridCol w="2107260">
                  <a:extLst>
                    <a:ext uri="{9D8B030D-6E8A-4147-A177-3AD203B41FA5}">
                      <a16:colId xmlns:a16="http://schemas.microsoft.com/office/drawing/2014/main" val="2807654900"/>
                    </a:ext>
                  </a:extLst>
                </a:gridCol>
                <a:gridCol w="1992085">
                  <a:extLst>
                    <a:ext uri="{9D8B030D-6E8A-4147-A177-3AD203B41FA5}">
                      <a16:colId xmlns:a16="http://schemas.microsoft.com/office/drawing/2014/main" val="746790647"/>
                    </a:ext>
                  </a:extLst>
                </a:gridCol>
                <a:gridCol w="1966492">
                  <a:extLst>
                    <a:ext uri="{9D8B030D-6E8A-4147-A177-3AD203B41FA5}">
                      <a16:colId xmlns:a16="http://schemas.microsoft.com/office/drawing/2014/main" val="3879019045"/>
                    </a:ext>
                  </a:extLst>
                </a:gridCol>
                <a:gridCol w="1859849">
                  <a:extLst>
                    <a:ext uri="{9D8B030D-6E8A-4147-A177-3AD203B41FA5}">
                      <a16:colId xmlns:a16="http://schemas.microsoft.com/office/drawing/2014/main" val="1544748945"/>
                    </a:ext>
                  </a:extLst>
                </a:gridCol>
              </a:tblGrid>
              <a:tr h="720274">
                <a:tc>
                  <a:txBody>
                    <a:bodyPr/>
                    <a:lstStyle/>
                    <a:p>
                      <a:pPr marL="0" marR="0" algn="ctr">
                        <a:lnSpc>
                          <a:spcPct val="107000"/>
                        </a:lnSpc>
                        <a:spcBef>
                          <a:spcPts val="0"/>
                        </a:spcBef>
                        <a:spcAft>
                          <a:spcPts val="0"/>
                        </a:spcAft>
                      </a:pPr>
                      <a:r>
                        <a:rPr lang="en-US" sz="1400" dirty="0">
                          <a:effectLst/>
                        </a:rPr>
                        <a:t>Features / Criteria</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SUST Online Payment System</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DU Sonali Bank e-Payment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Rupali Sure Cash System</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dirty="0">
                          <a:effectLst/>
                        </a:rPr>
                        <a:t>My System</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extLst>
                  <a:ext uri="{0D108BD9-81ED-4DB2-BD59-A6C34878D82A}">
                    <a16:rowId xmlns:a16="http://schemas.microsoft.com/office/drawing/2014/main" val="1955692036"/>
                  </a:ext>
                </a:extLst>
              </a:tr>
              <a:tr h="484670">
                <a:tc>
                  <a:txBody>
                    <a:bodyPr/>
                    <a:lstStyle/>
                    <a:p>
                      <a:pPr marL="0" marR="0" algn="ctr">
                        <a:lnSpc>
                          <a:spcPct val="107000"/>
                        </a:lnSpc>
                        <a:spcBef>
                          <a:spcPts val="0"/>
                        </a:spcBef>
                        <a:spcAft>
                          <a:spcPts val="0"/>
                        </a:spcAft>
                      </a:pPr>
                      <a:r>
                        <a:rPr lang="en-US" sz="1400">
                          <a:effectLst/>
                        </a:rPr>
                        <a:t>Online Payment Support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extLst>
                  <a:ext uri="{0D108BD9-81ED-4DB2-BD59-A6C34878D82A}">
                    <a16:rowId xmlns:a16="http://schemas.microsoft.com/office/drawing/2014/main" val="1090685177"/>
                  </a:ext>
                </a:extLst>
              </a:tr>
              <a:tr h="484670">
                <a:tc>
                  <a:txBody>
                    <a:bodyPr/>
                    <a:lstStyle/>
                    <a:p>
                      <a:pPr marL="0" marR="0" algn="ctr">
                        <a:lnSpc>
                          <a:spcPct val="107000"/>
                        </a:lnSpc>
                        <a:spcBef>
                          <a:spcPts val="0"/>
                        </a:spcBef>
                        <a:spcAft>
                          <a:spcPts val="0"/>
                        </a:spcAft>
                      </a:pPr>
                      <a:r>
                        <a:rPr lang="en-US" sz="1400">
                          <a:effectLst/>
                        </a:rPr>
                        <a:t>Mobile Financial Services (MFS)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extLst>
                  <a:ext uri="{0D108BD9-81ED-4DB2-BD59-A6C34878D82A}">
                    <a16:rowId xmlns:a16="http://schemas.microsoft.com/office/drawing/2014/main" val="3778598887"/>
                  </a:ext>
                </a:extLst>
              </a:tr>
              <a:tr h="484670">
                <a:tc>
                  <a:txBody>
                    <a:bodyPr/>
                    <a:lstStyle/>
                    <a:p>
                      <a:pPr marL="0" marR="0" algn="ctr">
                        <a:lnSpc>
                          <a:spcPct val="107000"/>
                        </a:lnSpc>
                        <a:spcBef>
                          <a:spcPts val="0"/>
                        </a:spcBef>
                        <a:spcAft>
                          <a:spcPts val="0"/>
                        </a:spcAft>
                      </a:pPr>
                      <a:r>
                        <a:rPr lang="en-US" sz="1400">
                          <a:effectLst/>
                        </a:rPr>
                        <a:t>Automatic Payment Verification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extLst>
                  <a:ext uri="{0D108BD9-81ED-4DB2-BD59-A6C34878D82A}">
                    <a16:rowId xmlns:a16="http://schemas.microsoft.com/office/drawing/2014/main" val="777128360"/>
                  </a:ext>
                </a:extLst>
              </a:tr>
              <a:tr h="484670">
                <a:tc>
                  <a:txBody>
                    <a:bodyPr/>
                    <a:lstStyle/>
                    <a:p>
                      <a:pPr marL="0" marR="0" algn="ctr">
                        <a:lnSpc>
                          <a:spcPct val="107000"/>
                        </a:lnSpc>
                        <a:spcBef>
                          <a:spcPts val="0"/>
                        </a:spcBef>
                        <a:spcAft>
                          <a:spcPts val="0"/>
                        </a:spcAft>
                      </a:pPr>
                      <a:r>
                        <a:rPr lang="en-US" sz="1400">
                          <a:effectLst/>
                        </a:rPr>
                        <a:t>Student Login System</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extLst>
                  <a:ext uri="{0D108BD9-81ED-4DB2-BD59-A6C34878D82A}">
                    <a16:rowId xmlns:a16="http://schemas.microsoft.com/office/drawing/2014/main" val="625497806"/>
                  </a:ext>
                </a:extLst>
              </a:tr>
              <a:tr h="484670">
                <a:tc>
                  <a:txBody>
                    <a:bodyPr/>
                    <a:lstStyle/>
                    <a:p>
                      <a:pPr marL="0" marR="0" algn="ctr">
                        <a:lnSpc>
                          <a:spcPct val="107000"/>
                        </a:lnSpc>
                        <a:spcBef>
                          <a:spcPts val="0"/>
                        </a:spcBef>
                        <a:spcAft>
                          <a:spcPts val="0"/>
                        </a:spcAft>
                      </a:pPr>
                      <a:r>
                        <a:rPr lang="en-US" sz="1400">
                          <a:effectLst/>
                        </a:rPr>
                        <a:t>Shows Pending Fees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extLst>
                  <a:ext uri="{0D108BD9-81ED-4DB2-BD59-A6C34878D82A}">
                    <a16:rowId xmlns:a16="http://schemas.microsoft.com/office/drawing/2014/main" val="3337271794"/>
                  </a:ext>
                </a:extLst>
              </a:tr>
              <a:tr h="484670">
                <a:tc>
                  <a:txBody>
                    <a:bodyPr/>
                    <a:lstStyle/>
                    <a:p>
                      <a:pPr marL="0" marR="0" algn="ctr">
                        <a:lnSpc>
                          <a:spcPct val="107000"/>
                        </a:lnSpc>
                        <a:spcBef>
                          <a:spcPts val="0"/>
                        </a:spcBef>
                        <a:spcAft>
                          <a:spcPts val="0"/>
                        </a:spcAft>
                      </a:pPr>
                      <a:r>
                        <a:rPr lang="en-US" sz="1400">
                          <a:effectLst/>
                        </a:rPr>
                        <a:t>Admin Dashboard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extLst>
                  <a:ext uri="{0D108BD9-81ED-4DB2-BD59-A6C34878D82A}">
                    <a16:rowId xmlns:a16="http://schemas.microsoft.com/office/drawing/2014/main" val="2808347720"/>
                  </a:ext>
                </a:extLst>
              </a:tr>
              <a:tr h="484670">
                <a:tc>
                  <a:txBody>
                    <a:bodyPr/>
                    <a:lstStyle/>
                    <a:p>
                      <a:pPr marL="0" marR="0" algn="ctr">
                        <a:lnSpc>
                          <a:spcPct val="107000"/>
                        </a:lnSpc>
                        <a:spcBef>
                          <a:spcPts val="0"/>
                        </a:spcBef>
                        <a:spcAft>
                          <a:spcPts val="0"/>
                        </a:spcAft>
                      </a:pPr>
                      <a:r>
                        <a:rPr lang="en-US" sz="1400">
                          <a:effectLst/>
                        </a:rPr>
                        <a:t>Full Bank API Integration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extLst>
                  <a:ext uri="{0D108BD9-81ED-4DB2-BD59-A6C34878D82A}">
                    <a16:rowId xmlns:a16="http://schemas.microsoft.com/office/drawing/2014/main" val="2593338926"/>
                  </a:ext>
                </a:extLst>
              </a:tr>
              <a:tr h="484670">
                <a:tc>
                  <a:txBody>
                    <a:bodyPr/>
                    <a:lstStyle/>
                    <a:p>
                      <a:pPr marL="0" marR="0" algn="ctr">
                        <a:lnSpc>
                          <a:spcPct val="107000"/>
                        </a:lnSpc>
                        <a:spcBef>
                          <a:spcPts val="0"/>
                        </a:spcBef>
                        <a:spcAft>
                          <a:spcPts val="0"/>
                        </a:spcAft>
                      </a:pPr>
                      <a:r>
                        <a:rPr lang="en-US" sz="1400">
                          <a:effectLst/>
                        </a:rPr>
                        <a:t>Works Without Standing in Line</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extLst>
                  <a:ext uri="{0D108BD9-81ED-4DB2-BD59-A6C34878D82A}">
                    <a16:rowId xmlns:a16="http://schemas.microsoft.com/office/drawing/2014/main" val="3959367763"/>
                  </a:ext>
                </a:extLst>
              </a:tr>
              <a:tr h="484670">
                <a:tc>
                  <a:txBody>
                    <a:bodyPr/>
                    <a:lstStyle/>
                    <a:p>
                      <a:pPr marL="0" marR="0" algn="ctr">
                        <a:lnSpc>
                          <a:spcPct val="107000"/>
                        </a:lnSpc>
                        <a:spcBef>
                          <a:spcPts val="0"/>
                        </a:spcBef>
                        <a:spcAft>
                          <a:spcPts val="0"/>
                        </a:spcAft>
                      </a:pPr>
                      <a:r>
                        <a:rPr lang="en-US" sz="1400">
                          <a:effectLst/>
                        </a:rPr>
                        <a:t>Scalable for Future Upgrades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extLst>
                  <a:ext uri="{0D108BD9-81ED-4DB2-BD59-A6C34878D82A}">
                    <a16:rowId xmlns:a16="http://schemas.microsoft.com/office/drawing/2014/main" val="2684177381"/>
                  </a:ext>
                </a:extLst>
              </a:tr>
              <a:tr h="484670">
                <a:tc>
                  <a:txBody>
                    <a:bodyPr/>
                    <a:lstStyle/>
                    <a:p>
                      <a:pPr marL="0" marR="0" algn="ctr">
                        <a:lnSpc>
                          <a:spcPct val="107000"/>
                        </a:lnSpc>
                        <a:spcBef>
                          <a:spcPts val="0"/>
                        </a:spcBef>
                        <a:spcAft>
                          <a:spcPts val="0"/>
                        </a:spcAft>
                      </a:pPr>
                      <a:r>
                        <a:rPr lang="en-US" sz="1400">
                          <a:effectLst/>
                        </a:rPr>
                        <a:t>Instant Payment Confirmation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extLst>
                  <a:ext uri="{0D108BD9-81ED-4DB2-BD59-A6C34878D82A}">
                    <a16:rowId xmlns:a16="http://schemas.microsoft.com/office/drawing/2014/main" val="2579498172"/>
                  </a:ext>
                </a:extLst>
              </a:tr>
              <a:tr h="499257">
                <a:tc>
                  <a:txBody>
                    <a:bodyPr/>
                    <a:lstStyle/>
                    <a:p>
                      <a:pPr marL="0" marR="0" algn="ctr">
                        <a:lnSpc>
                          <a:spcPct val="107000"/>
                        </a:lnSpc>
                        <a:spcBef>
                          <a:spcPts val="0"/>
                        </a:spcBef>
                        <a:spcAft>
                          <a:spcPts val="0"/>
                        </a:spcAft>
                      </a:pPr>
                      <a:r>
                        <a:rPr lang="en-US" sz="1400">
                          <a:effectLst/>
                        </a:rPr>
                        <a:t>Supports Multiple Payment Methods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tc>
                  <a:txBody>
                    <a:bodyPr/>
                    <a:lstStyle/>
                    <a:p>
                      <a:pPr marL="0" marR="0" algn="ctr">
                        <a:lnSpc>
                          <a:spcPct val="107000"/>
                        </a:lnSpc>
                        <a:spcBef>
                          <a:spcPts val="0"/>
                        </a:spcBef>
                        <a:spcAft>
                          <a:spcPts val="0"/>
                        </a:spcAft>
                      </a:pPr>
                      <a:r>
                        <a:rPr lang="en-US" sz="1400" dirty="0">
                          <a:effectLst/>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2274" marR="52274" marT="0" marB="0" anchor="ctr"/>
                </a:tc>
                <a:extLst>
                  <a:ext uri="{0D108BD9-81ED-4DB2-BD59-A6C34878D82A}">
                    <a16:rowId xmlns:a16="http://schemas.microsoft.com/office/drawing/2014/main" val="1679156993"/>
                  </a:ext>
                </a:extLst>
              </a:tr>
            </a:tbl>
          </a:graphicData>
        </a:graphic>
      </p:graphicFrame>
    </p:spTree>
    <p:extLst>
      <p:ext uri="{BB962C8B-B14F-4D97-AF65-F5344CB8AC3E}">
        <p14:creationId xmlns:p14="http://schemas.microsoft.com/office/powerpoint/2010/main" val="1710698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29344-5710-418D-815D-D2FE57846141}"/>
              </a:ext>
            </a:extLst>
          </p:cNvPr>
          <p:cNvSpPr>
            <a:spLocks noGrp="1"/>
          </p:cNvSpPr>
          <p:nvPr>
            <p:ph type="title"/>
          </p:nvPr>
        </p:nvSpPr>
        <p:spPr>
          <a:xfrm>
            <a:off x="838199" y="180488"/>
            <a:ext cx="10515600" cy="689950"/>
          </a:xfrm>
        </p:spPr>
        <p:txBody>
          <a:bodyPr>
            <a:normAutofit/>
          </a:bodyPr>
          <a:lstStyle/>
          <a:p>
            <a:pPr algn="ctr"/>
            <a:r>
              <a:rPr lang="en-US" sz="3600" b="1" kern="0" dirty="0">
                <a:solidFill>
                  <a:srgbClr val="365F91"/>
                </a:solidFill>
                <a:latin typeface="Calibri" panose="020F0502020204030204" pitchFamily="34" charset="0"/>
                <a:ea typeface="MS Gothic" panose="020B0609070205080204" pitchFamily="49" charset="-128"/>
                <a:cs typeface="Times New Roman" panose="02020603050405020304" pitchFamily="18" charset="0"/>
              </a:rPr>
              <a:t>Site Map</a:t>
            </a:r>
            <a:r>
              <a:rPr lang="en-US" sz="3600" b="1" kern="0" dirty="0">
                <a:solidFill>
                  <a:srgbClr val="365F91"/>
                </a:solidFill>
                <a:effectLst/>
                <a:latin typeface="Calibri" panose="020F0502020204030204" pitchFamily="34" charset="0"/>
                <a:ea typeface="MS Gothic" panose="020B0609070205080204" pitchFamily="49" charset="-128"/>
                <a:cs typeface="Times New Roman" panose="02020603050405020304" pitchFamily="18" charset="0"/>
              </a:rPr>
              <a:t> </a:t>
            </a:r>
            <a:endParaRPr lang="en-US" sz="7200" dirty="0"/>
          </a:p>
        </p:txBody>
      </p:sp>
      <p:pic>
        <p:nvPicPr>
          <p:cNvPr id="5" name="Content Placeholder 4"/>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t="3988" b="5380"/>
          <a:stretch/>
        </p:blipFill>
        <p:spPr>
          <a:xfrm>
            <a:off x="59494" y="870438"/>
            <a:ext cx="12022210" cy="6045200"/>
          </a:xfrm>
        </p:spPr>
      </p:pic>
    </p:spTree>
    <p:extLst>
      <p:ext uri="{BB962C8B-B14F-4D97-AF65-F5344CB8AC3E}">
        <p14:creationId xmlns:p14="http://schemas.microsoft.com/office/powerpoint/2010/main" val="4237679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29344-5710-418D-815D-D2FE57846141}"/>
              </a:ext>
            </a:extLst>
          </p:cNvPr>
          <p:cNvSpPr>
            <a:spLocks noGrp="1"/>
          </p:cNvSpPr>
          <p:nvPr>
            <p:ph type="title"/>
          </p:nvPr>
        </p:nvSpPr>
        <p:spPr>
          <a:xfrm>
            <a:off x="1057656" y="255397"/>
            <a:ext cx="10116312" cy="604139"/>
          </a:xfrm>
        </p:spPr>
        <p:txBody>
          <a:bodyPr>
            <a:normAutofit/>
          </a:bodyPr>
          <a:lstStyle/>
          <a:p>
            <a:pPr algn="ctr"/>
            <a:r>
              <a:rPr lang="en-US" sz="3600" b="1" kern="0" dirty="0">
                <a:solidFill>
                  <a:srgbClr val="365F91"/>
                </a:solidFill>
                <a:latin typeface="Calibri" panose="020F0502020204030204" pitchFamily="34" charset="0"/>
                <a:ea typeface="MS Gothic" panose="020B0609070205080204" pitchFamily="49" charset="-128"/>
                <a:cs typeface="Times New Roman" panose="02020603050405020304" pitchFamily="18" charset="0"/>
              </a:rPr>
              <a:t>Context Diagram</a:t>
            </a:r>
            <a:endParaRPr lang="en-US" sz="7200" dirty="0"/>
          </a:p>
        </p:txBody>
      </p:sp>
      <p:pic>
        <p:nvPicPr>
          <p:cNvPr id="4" name="Picture 3">
            <a:extLst>
              <a:ext uri="{FF2B5EF4-FFF2-40B4-BE49-F238E27FC236}">
                <a16:creationId xmlns:a16="http://schemas.microsoft.com/office/drawing/2014/main" id="{2E9FD05C-B289-44AD-8451-7CB65BE89048}"/>
              </a:ext>
            </a:extLst>
          </p:cNvPr>
          <p:cNvPicPr>
            <a:picLocks noChangeAspect="1"/>
          </p:cNvPicPr>
          <p:nvPr/>
        </p:nvPicPr>
        <p:blipFill>
          <a:blip r:embed="rId2"/>
          <a:stretch>
            <a:fillRect/>
          </a:stretch>
        </p:blipFill>
        <p:spPr>
          <a:xfrm>
            <a:off x="504825" y="1257300"/>
            <a:ext cx="11182350" cy="4343400"/>
          </a:xfrm>
          <a:prstGeom prst="rect">
            <a:avLst/>
          </a:prstGeom>
        </p:spPr>
      </p:pic>
    </p:spTree>
    <p:extLst>
      <p:ext uri="{BB962C8B-B14F-4D97-AF65-F5344CB8AC3E}">
        <p14:creationId xmlns:p14="http://schemas.microsoft.com/office/powerpoint/2010/main" val="1543519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29344-5710-418D-815D-D2FE57846141}"/>
              </a:ext>
            </a:extLst>
          </p:cNvPr>
          <p:cNvSpPr>
            <a:spLocks noGrp="1"/>
          </p:cNvSpPr>
          <p:nvPr>
            <p:ph type="title"/>
          </p:nvPr>
        </p:nvSpPr>
        <p:spPr>
          <a:xfrm>
            <a:off x="642620" y="3136074"/>
            <a:ext cx="5780116" cy="585851"/>
          </a:xfrm>
        </p:spPr>
        <p:txBody>
          <a:bodyPr>
            <a:normAutofit/>
          </a:bodyPr>
          <a:lstStyle/>
          <a:p>
            <a:pPr algn="ctr"/>
            <a:r>
              <a:rPr lang="en-US" sz="3600" b="1" kern="0" dirty="0">
                <a:solidFill>
                  <a:srgbClr val="365F91"/>
                </a:solidFill>
                <a:latin typeface="Calibri" panose="020F0502020204030204" pitchFamily="34" charset="0"/>
                <a:ea typeface="MS Gothic" panose="020B0609070205080204" pitchFamily="49" charset="-128"/>
                <a:cs typeface="Times New Roman" panose="02020603050405020304" pitchFamily="18" charset="0"/>
              </a:rPr>
              <a:t>DFD</a:t>
            </a:r>
            <a:endParaRPr lang="en-US" sz="7200" dirty="0"/>
          </a:p>
        </p:txBody>
      </p:sp>
      <p:pic>
        <p:nvPicPr>
          <p:cNvPr id="6" name="Picture 5">
            <a:extLst>
              <a:ext uri="{FF2B5EF4-FFF2-40B4-BE49-F238E27FC236}">
                <a16:creationId xmlns:a16="http://schemas.microsoft.com/office/drawing/2014/main" id="{6DCE7693-6B4A-4682-9342-2E6915D4D8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2636" y="0"/>
            <a:ext cx="5299364" cy="6858000"/>
          </a:xfrm>
          <a:prstGeom prst="rect">
            <a:avLst/>
          </a:prstGeom>
        </p:spPr>
      </p:pic>
    </p:spTree>
    <p:extLst>
      <p:ext uri="{BB962C8B-B14F-4D97-AF65-F5344CB8AC3E}">
        <p14:creationId xmlns:p14="http://schemas.microsoft.com/office/powerpoint/2010/main" val="1733852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29344-5710-418D-815D-D2FE57846141}"/>
              </a:ext>
            </a:extLst>
          </p:cNvPr>
          <p:cNvSpPr>
            <a:spLocks noGrp="1"/>
          </p:cNvSpPr>
          <p:nvPr>
            <p:ph type="title"/>
          </p:nvPr>
        </p:nvSpPr>
        <p:spPr>
          <a:xfrm>
            <a:off x="985520" y="3136074"/>
            <a:ext cx="6215380" cy="585851"/>
          </a:xfrm>
        </p:spPr>
        <p:txBody>
          <a:bodyPr>
            <a:normAutofit/>
          </a:bodyPr>
          <a:lstStyle/>
          <a:p>
            <a:pPr algn="ctr"/>
            <a:r>
              <a:rPr lang="en-US" sz="3600" b="1" kern="0" dirty="0">
                <a:solidFill>
                  <a:srgbClr val="365F91"/>
                </a:solidFill>
                <a:latin typeface="Calibri" panose="020F0502020204030204" pitchFamily="34" charset="0"/>
                <a:ea typeface="MS Gothic" panose="020B0609070205080204" pitchFamily="49" charset="-128"/>
                <a:cs typeface="Times New Roman" panose="02020603050405020304" pitchFamily="18" charset="0"/>
              </a:rPr>
              <a:t>Activity Diagram</a:t>
            </a:r>
            <a:endParaRPr lang="en-US" sz="7200" dirty="0"/>
          </a:p>
        </p:txBody>
      </p:sp>
      <p:pic>
        <p:nvPicPr>
          <p:cNvPr id="6" name="Content Placeholder 5">
            <a:extLst>
              <a:ext uri="{FF2B5EF4-FFF2-40B4-BE49-F238E27FC236}">
                <a16:creationId xmlns:a16="http://schemas.microsoft.com/office/drawing/2014/main" id="{9928AD80-15C0-4D26-85DF-C7E8DC49689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14044" b="8761"/>
          <a:stretch/>
        </p:blipFill>
        <p:spPr>
          <a:xfrm>
            <a:off x="7200900" y="0"/>
            <a:ext cx="4958431" cy="6858000"/>
          </a:xfrm>
        </p:spPr>
      </p:pic>
    </p:spTree>
    <p:extLst>
      <p:ext uri="{BB962C8B-B14F-4D97-AF65-F5344CB8AC3E}">
        <p14:creationId xmlns:p14="http://schemas.microsoft.com/office/powerpoint/2010/main" val="1513166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29344-5710-418D-815D-D2FE57846141}"/>
              </a:ext>
            </a:extLst>
          </p:cNvPr>
          <p:cNvSpPr>
            <a:spLocks noGrp="1"/>
          </p:cNvSpPr>
          <p:nvPr>
            <p:ph type="title"/>
          </p:nvPr>
        </p:nvSpPr>
        <p:spPr>
          <a:xfrm>
            <a:off x="789101" y="2766218"/>
            <a:ext cx="5257800" cy="1325563"/>
          </a:xfrm>
        </p:spPr>
        <p:txBody>
          <a:bodyPr>
            <a:normAutofit/>
          </a:bodyPr>
          <a:lstStyle/>
          <a:p>
            <a:pPr algn="ctr"/>
            <a:r>
              <a:rPr lang="en-US" sz="3600" b="1" kern="0" dirty="0">
                <a:solidFill>
                  <a:srgbClr val="365F91"/>
                </a:solidFill>
                <a:latin typeface="Calibri" panose="020F0502020204030204" pitchFamily="34" charset="0"/>
                <a:ea typeface="MS Gothic" panose="020B0609070205080204" pitchFamily="49" charset="-128"/>
                <a:cs typeface="Times New Roman" panose="02020603050405020304" pitchFamily="18" charset="0"/>
              </a:rPr>
              <a:t>Use Case Diagram</a:t>
            </a:r>
            <a:endParaRPr lang="en-US" sz="7200" dirty="0"/>
          </a:p>
        </p:txBody>
      </p:sp>
      <p:pic>
        <p:nvPicPr>
          <p:cNvPr id="7" name="Content Placeholder 6">
            <a:extLst>
              <a:ext uri="{FF2B5EF4-FFF2-40B4-BE49-F238E27FC236}">
                <a16:creationId xmlns:a16="http://schemas.microsoft.com/office/drawing/2014/main" id="{DEDB7E27-C2C5-4A54-A02B-6CE0B3F0D8C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2186" r="11810" b="3129"/>
          <a:stretch/>
        </p:blipFill>
        <p:spPr>
          <a:xfrm>
            <a:off x="5210176" y="-3134"/>
            <a:ext cx="6966644" cy="6861333"/>
          </a:xfrm>
        </p:spPr>
      </p:pic>
      <p:sp>
        <p:nvSpPr>
          <p:cNvPr id="8" name="Rectangle 7">
            <a:extLst>
              <a:ext uri="{FF2B5EF4-FFF2-40B4-BE49-F238E27FC236}">
                <a16:creationId xmlns:a16="http://schemas.microsoft.com/office/drawing/2014/main" id="{0D0F8737-20F6-4FFD-BBF2-6FFE92CAFF19}"/>
              </a:ext>
            </a:extLst>
          </p:cNvPr>
          <p:cNvSpPr/>
          <p:nvPr/>
        </p:nvSpPr>
        <p:spPr>
          <a:xfrm>
            <a:off x="11077575" y="142875"/>
            <a:ext cx="542925" cy="1028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6878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29344-5710-418D-815D-D2FE57846141}"/>
              </a:ext>
            </a:extLst>
          </p:cNvPr>
          <p:cNvSpPr>
            <a:spLocks noGrp="1"/>
          </p:cNvSpPr>
          <p:nvPr>
            <p:ph type="title"/>
          </p:nvPr>
        </p:nvSpPr>
        <p:spPr>
          <a:xfrm>
            <a:off x="4221411" y="0"/>
            <a:ext cx="3749177" cy="742364"/>
          </a:xfrm>
        </p:spPr>
        <p:txBody>
          <a:bodyPr>
            <a:normAutofit/>
          </a:bodyPr>
          <a:lstStyle/>
          <a:p>
            <a:pPr algn="ctr"/>
            <a:r>
              <a:rPr lang="en-US" sz="3600" b="1" kern="0" dirty="0">
                <a:solidFill>
                  <a:srgbClr val="365F91"/>
                </a:solidFill>
                <a:latin typeface="Calibri" panose="020F0502020204030204" pitchFamily="34" charset="0"/>
                <a:ea typeface="MS Gothic" panose="020B0609070205080204" pitchFamily="49" charset="-128"/>
                <a:cs typeface="Times New Roman" panose="02020603050405020304" pitchFamily="18" charset="0"/>
              </a:rPr>
              <a:t>Class Diagram</a:t>
            </a:r>
            <a:endParaRPr lang="en-US" sz="7200" dirty="0"/>
          </a:p>
        </p:txBody>
      </p:sp>
      <p:pic>
        <p:nvPicPr>
          <p:cNvPr id="6" name="Picture 5"/>
          <p:cNvPicPr>
            <a:picLocks noChangeAspect="1"/>
          </p:cNvPicPr>
          <p:nvPr/>
        </p:nvPicPr>
        <p:blipFill>
          <a:blip r:embed="rId2"/>
          <a:stretch>
            <a:fillRect/>
          </a:stretch>
        </p:blipFill>
        <p:spPr>
          <a:xfrm>
            <a:off x="2785631" y="742364"/>
            <a:ext cx="6244069" cy="6047783"/>
          </a:xfrm>
          <a:prstGeom prst="rect">
            <a:avLst/>
          </a:prstGeom>
        </p:spPr>
      </p:pic>
    </p:spTree>
    <p:extLst>
      <p:ext uri="{BB962C8B-B14F-4D97-AF65-F5344CB8AC3E}">
        <p14:creationId xmlns:p14="http://schemas.microsoft.com/office/powerpoint/2010/main" val="3023792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29344-5710-418D-815D-D2FE57846141}"/>
              </a:ext>
            </a:extLst>
          </p:cNvPr>
          <p:cNvSpPr>
            <a:spLocks noGrp="1"/>
          </p:cNvSpPr>
          <p:nvPr>
            <p:ph type="title"/>
          </p:nvPr>
        </p:nvSpPr>
        <p:spPr>
          <a:xfrm>
            <a:off x="4644999" y="0"/>
            <a:ext cx="2652617" cy="927425"/>
          </a:xfrm>
        </p:spPr>
        <p:txBody>
          <a:bodyPr>
            <a:normAutofit/>
          </a:bodyPr>
          <a:lstStyle/>
          <a:p>
            <a:pPr algn="ctr"/>
            <a:r>
              <a:rPr lang="en-US" sz="3600" b="1" kern="0" dirty="0">
                <a:solidFill>
                  <a:srgbClr val="365F91"/>
                </a:solidFill>
                <a:latin typeface="Calibri" panose="020F0502020204030204" pitchFamily="34" charset="0"/>
                <a:ea typeface="MS Gothic" panose="020B0609070205080204" pitchFamily="49" charset="-128"/>
                <a:cs typeface="Times New Roman" panose="02020603050405020304" pitchFamily="18" charset="0"/>
              </a:rPr>
              <a:t>E-R Diagram</a:t>
            </a:r>
            <a:endParaRPr lang="en-US" sz="72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7123" y="762000"/>
            <a:ext cx="8217753" cy="6096000"/>
          </a:xfrm>
          <a:prstGeom prst="rect">
            <a:avLst/>
          </a:prstGeom>
        </p:spPr>
      </p:pic>
    </p:spTree>
    <p:extLst>
      <p:ext uri="{BB962C8B-B14F-4D97-AF65-F5344CB8AC3E}">
        <p14:creationId xmlns:p14="http://schemas.microsoft.com/office/powerpoint/2010/main" val="27385160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TotalTime>
  <Words>488</Words>
  <Application>Microsoft Office PowerPoint</Application>
  <PresentationFormat>Widescreen</PresentationFormat>
  <Paragraphs>118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System Analysis and Design</vt:lpstr>
      <vt:lpstr>PowerPoint Presentation</vt:lpstr>
      <vt:lpstr>Introduction</vt:lpstr>
      <vt:lpstr>What the Project Does</vt:lpstr>
      <vt:lpstr>What the Project Does</vt:lpstr>
      <vt:lpstr>How It Works</vt:lpstr>
      <vt:lpstr>Benchmark</vt:lpstr>
      <vt:lpstr>Site Map </vt:lpstr>
      <vt:lpstr>Context Diagram</vt:lpstr>
      <vt:lpstr>DFD</vt:lpstr>
      <vt:lpstr>Activity Diagram</vt:lpstr>
      <vt:lpstr>Use Case Diagram</vt:lpstr>
      <vt:lpstr>Class Diagram</vt:lpstr>
      <vt:lpstr>E-R Diagram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Analysis and Design</dc:title>
  <dc:creator>Mamun</dc:creator>
  <cp:lastModifiedBy>Tauhid</cp:lastModifiedBy>
  <cp:revision>13</cp:revision>
  <dcterms:created xsi:type="dcterms:W3CDTF">2025-10-20T16:33:17Z</dcterms:created>
  <dcterms:modified xsi:type="dcterms:W3CDTF">2025-12-09T06:32:41Z</dcterms:modified>
</cp:coreProperties>
</file>